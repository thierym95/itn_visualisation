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3E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308" autoAdjust="0"/>
  </p:normalViewPr>
  <p:slideViewPr>
    <p:cSldViewPr snapToGrid="0" showGuides="1">
      <p:cViewPr varScale="1">
        <p:scale>
          <a:sx n="71" d="100"/>
          <a:sy n="71" d="100"/>
        </p:scale>
        <p:origin x="412" y="44"/>
      </p:cViewPr>
      <p:guideLst>
        <p:guide orient="horz" pos="2183"/>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09FA9-5CB9-41CF-B662-0BE932BB641E}" type="datetimeFigureOut">
              <a:rPr lang="en-US" smtClean="0"/>
              <a:t>7/29/2026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2EE257-5F20-40E0-958D-4FAC2A3D7971}" type="slidenum">
              <a:rPr lang="en-US" smtClean="0"/>
              <a:t>‹#›</a:t>
            </a:fld>
            <a:endParaRPr lang="en-US"/>
          </a:p>
        </p:txBody>
      </p:sp>
    </p:spTree>
    <p:extLst>
      <p:ext uri="{BB962C8B-B14F-4D97-AF65-F5344CB8AC3E}">
        <p14:creationId xmlns:p14="http://schemas.microsoft.com/office/powerpoint/2010/main" val="1887821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Overview of the OpenMalaria simulation framework.</a:t>
            </a:r>
            <a:r>
              <a:rPr lang="en-US" dirty="0"/>
              <a:t> Two simulation sets were performed to evaluate </a:t>
            </a:r>
            <a:r>
              <a:rPr lang="en-US" dirty="0" err="1"/>
              <a:t>chlorfenapyr</a:t>
            </a:r>
            <a:r>
              <a:rPr lang="en-US" dirty="0"/>
              <a:t>–pyrethroid insecticide-treated nets (CFP–PYR ITNs) relative to standard pyrethroid-only ITNs (PYR-ITNs). In </a:t>
            </a:r>
            <a:r>
              <a:rPr lang="en-US" b="1" dirty="0"/>
              <a:t>simulation set 1</a:t>
            </a:r>
            <a:r>
              <a:rPr lang="en-US" dirty="0"/>
              <a:t>, six deployment strategies were compared: standard PYR-ITN deployment and five alternative CFP–PYR ITN deployment strategies incorporating reductions in either coverage or deployment frequency. The objective was to assess their impact on the incidence of uncomplicated malaria in the overall population over a 12-year period. In </a:t>
            </a:r>
            <a:r>
              <a:rPr lang="en-US" b="1" dirty="0"/>
              <a:t>simulation set 2</a:t>
            </a:r>
            <a:r>
              <a:rPr lang="en-US" dirty="0"/>
              <a:t>, standard PYR-ITN deployment was compared with CFP–PYR ITN deployment at reduced coverage levels to assess whether individuals who lost access to an ITN could still benefit from the switch to CFP–PYR ITNs due to their greater community-level protection. All simulations were conducted under three ITN </a:t>
            </a:r>
            <a:r>
              <a:rPr lang="en-US" dirty="0" err="1"/>
              <a:t>parameterisations</a:t>
            </a:r>
            <a:r>
              <a:rPr lang="en-US" dirty="0"/>
              <a:t> across combinations of human blood index, entomological inoculation rate, transmission seasonality, and access to first-line treatment.</a:t>
            </a:r>
          </a:p>
        </p:txBody>
      </p:sp>
      <p:sp>
        <p:nvSpPr>
          <p:cNvPr id="4" name="Slide Number Placeholder 3"/>
          <p:cNvSpPr>
            <a:spLocks noGrp="1"/>
          </p:cNvSpPr>
          <p:nvPr>
            <p:ph type="sldNum" sz="quarter" idx="5"/>
          </p:nvPr>
        </p:nvSpPr>
        <p:spPr/>
        <p:txBody>
          <a:bodyPr/>
          <a:lstStyle/>
          <a:p>
            <a:fld id="{742EE257-5F20-40E0-958D-4FAC2A3D7971}" type="slidenum">
              <a:rPr lang="en-US" smtClean="0"/>
              <a:t>1</a:t>
            </a:fld>
            <a:endParaRPr lang="en-US"/>
          </a:p>
        </p:txBody>
      </p:sp>
    </p:spTree>
    <p:extLst>
      <p:ext uri="{BB962C8B-B14F-4D97-AF65-F5344CB8AC3E}">
        <p14:creationId xmlns:p14="http://schemas.microsoft.com/office/powerpoint/2010/main" val="24290120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2FA51-746F-1FBD-7DEC-970FAE4F33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61B1B9-B97A-99C8-2F17-30FE7409C2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72E82A-28B9-D6A1-2EC4-C29A4ED63AA8}"/>
              </a:ext>
            </a:extLst>
          </p:cNvPr>
          <p:cNvSpPr>
            <a:spLocks noGrp="1"/>
          </p:cNvSpPr>
          <p:nvPr>
            <p:ph type="dt" sz="half" idx="10"/>
          </p:nvPr>
        </p:nvSpPr>
        <p:spPr/>
        <p:txBody>
          <a:bodyPr/>
          <a:lstStyle/>
          <a:p>
            <a:fld id="{9967DA2E-A2D1-4D82-909A-FED262A60777}" type="datetimeFigureOut">
              <a:rPr lang="en-US" smtClean="0"/>
              <a:t>7/29/2026</a:t>
            </a:fld>
            <a:endParaRPr lang="en-US"/>
          </a:p>
        </p:txBody>
      </p:sp>
      <p:sp>
        <p:nvSpPr>
          <p:cNvPr id="5" name="Footer Placeholder 4">
            <a:extLst>
              <a:ext uri="{FF2B5EF4-FFF2-40B4-BE49-F238E27FC236}">
                <a16:creationId xmlns:a16="http://schemas.microsoft.com/office/drawing/2014/main" id="{E20D95B3-DF8A-4883-3F4F-4242E5428C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220D36-583E-45D0-65E9-9C07ECEB88A3}"/>
              </a:ext>
            </a:extLst>
          </p:cNvPr>
          <p:cNvSpPr>
            <a:spLocks noGrp="1"/>
          </p:cNvSpPr>
          <p:nvPr>
            <p:ph type="sldNum" sz="quarter" idx="12"/>
          </p:nvPr>
        </p:nvSpPr>
        <p:spPr/>
        <p:txBody>
          <a:bodyPr/>
          <a:lstStyle/>
          <a:p>
            <a:fld id="{B78E1E51-35F9-44F4-B573-471678BCF4E5}" type="slidenum">
              <a:rPr lang="en-US" smtClean="0"/>
              <a:t>‹#›</a:t>
            </a:fld>
            <a:endParaRPr lang="en-US"/>
          </a:p>
        </p:txBody>
      </p:sp>
    </p:spTree>
    <p:extLst>
      <p:ext uri="{BB962C8B-B14F-4D97-AF65-F5344CB8AC3E}">
        <p14:creationId xmlns:p14="http://schemas.microsoft.com/office/powerpoint/2010/main" val="1282462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92449-26BE-4672-4CF8-2C2F2D72AF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193DC6-5A87-AB61-BEB1-818F978008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39627D-39D6-601C-6264-954900662445}"/>
              </a:ext>
            </a:extLst>
          </p:cNvPr>
          <p:cNvSpPr>
            <a:spLocks noGrp="1"/>
          </p:cNvSpPr>
          <p:nvPr>
            <p:ph type="dt" sz="half" idx="10"/>
          </p:nvPr>
        </p:nvSpPr>
        <p:spPr/>
        <p:txBody>
          <a:bodyPr/>
          <a:lstStyle/>
          <a:p>
            <a:fld id="{9967DA2E-A2D1-4D82-909A-FED262A60777}" type="datetimeFigureOut">
              <a:rPr lang="en-US" smtClean="0"/>
              <a:t>7/29/2026</a:t>
            </a:fld>
            <a:endParaRPr lang="en-US"/>
          </a:p>
        </p:txBody>
      </p:sp>
      <p:sp>
        <p:nvSpPr>
          <p:cNvPr id="5" name="Footer Placeholder 4">
            <a:extLst>
              <a:ext uri="{FF2B5EF4-FFF2-40B4-BE49-F238E27FC236}">
                <a16:creationId xmlns:a16="http://schemas.microsoft.com/office/drawing/2014/main" id="{6D2AF663-ED39-E0B8-592B-93A098400C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9C446B-8DC6-419D-05B8-8A38827E5950}"/>
              </a:ext>
            </a:extLst>
          </p:cNvPr>
          <p:cNvSpPr>
            <a:spLocks noGrp="1"/>
          </p:cNvSpPr>
          <p:nvPr>
            <p:ph type="sldNum" sz="quarter" idx="12"/>
          </p:nvPr>
        </p:nvSpPr>
        <p:spPr/>
        <p:txBody>
          <a:bodyPr/>
          <a:lstStyle/>
          <a:p>
            <a:fld id="{B78E1E51-35F9-44F4-B573-471678BCF4E5}" type="slidenum">
              <a:rPr lang="en-US" smtClean="0"/>
              <a:t>‹#›</a:t>
            </a:fld>
            <a:endParaRPr lang="en-US"/>
          </a:p>
        </p:txBody>
      </p:sp>
    </p:spTree>
    <p:extLst>
      <p:ext uri="{BB962C8B-B14F-4D97-AF65-F5344CB8AC3E}">
        <p14:creationId xmlns:p14="http://schemas.microsoft.com/office/powerpoint/2010/main" val="625052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E2403-129B-84D2-5C8F-B978256A1F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D8C449-C6FF-1823-A915-2B560789841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32893D-DFCD-137A-2669-B582C29868A9}"/>
              </a:ext>
            </a:extLst>
          </p:cNvPr>
          <p:cNvSpPr>
            <a:spLocks noGrp="1"/>
          </p:cNvSpPr>
          <p:nvPr>
            <p:ph type="dt" sz="half" idx="10"/>
          </p:nvPr>
        </p:nvSpPr>
        <p:spPr/>
        <p:txBody>
          <a:bodyPr/>
          <a:lstStyle/>
          <a:p>
            <a:fld id="{9967DA2E-A2D1-4D82-909A-FED262A60777}" type="datetimeFigureOut">
              <a:rPr lang="en-US" smtClean="0"/>
              <a:t>7/29/2026</a:t>
            </a:fld>
            <a:endParaRPr lang="en-US"/>
          </a:p>
        </p:txBody>
      </p:sp>
      <p:sp>
        <p:nvSpPr>
          <p:cNvPr id="5" name="Footer Placeholder 4">
            <a:extLst>
              <a:ext uri="{FF2B5EF4-FFF2-40B4-BE49-F238E27FC236}">
                <a16:creationId xmlns:a16="http://schemas.microsoft.com/office/drawing/2014/main" id="{33446B7D-64D3-2759-86D1-4C4AA5DBEF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C80CC6-8DAF-5765-8A18-B7E9CDC17096}"/>
              </a:ext>
            </a:extLst>
          </p:cNvPr>
          <p:cNvSpPr>
            <a:spLocks noGrp="1"/>
          </p:cNvSpPr>
          <p:nvPr>
            <p:ph type="sldNum" sz="quarter" idx="12"/>
          </p:nvPr>
        </p:nvSpPr>
        <p:spPr/>
        <p:txBody>
          <a:bodyPr/>
          <a:lstStyle/>
          <a:p>
            <a:fld id="{B78E1E51-35F9-44F4-B573-471678BCF4E5}" type="slidenum">
              <a:rPr lang="en-US" smtClean="0"/>
              <a:t>‹#›</a:t>
            </a:fld>
            <a:endParaRPr lang="en-US"/>
          </a:p>
        </p:txBody>
      </p:sp>
    </p:spTree>
    <p:extLst>
      <p:ext uri="{BB962C8B-B14F-4D97-AF65-F5344CB8AC3E}">
        <p14:creationId xmlns:p14="http://schemas.microsoft.com/office/powerpoint/2010/main" val="987075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BF41F-2803-8CF3-F411-2BE48901F5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A3ADE6-D1A7-9D8D-3EDF-F93AA6C9B8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368C60E-66B0-60D5-7E64-CCCFD29F6C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49799C-F331-FA3D-436D-7BBDBCFA1D69}"/>
              </a:ext>
            </a:extLst>
          </p:cNvPr>
          <p:cNvSpPr>
            <a:spLocks noGrp="1"/>
          </p:cNvSpPr>
          <p:nvPr>
            <p:ph type="dt" sz="half" idx="10"/>
          </p:nvPr>
        </p:nvSpPr>
        <p:spPr/>
        <p:txBody>
          <a:bodyPr/>
          <a:lstStyle/>
          <a:p>
            <a:fld id="{9967DA2E-A2D1-4D82-909A-FED262A60777}" type="datetimeFigureOut">
              <a:rPr lang="en-US" smtClean="0"/>
              <a:t>7/29/2026</a:t>
            </a:fld>
            <a:endParaRPr lang="en-US"/>
          </a:p>
        </p:txBody>
      </p:sp>
      <p:sp>
        <p:nvSpPr>
          <p:cNvPr id="6" name="Footer Placeholder 5">
            <a:extLst>
              <a:ext uri="{FF2B5EF4-FFF2-40B4-BE49-F238E27FC236}">
                <a16:creationId xmlns:a16="http://schemas.microsoft.com/office/drawing/2014/main" id="{EF91D6E4-6FEF-97D2-CD7E-900FD7DCA8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6DF25-A11F-A0DC-D594-6A3708F106DA}"/>
              </a:ext>
            </a:extLst>
          </p:cNvPr>
          <p:cNvSpPr>
            <a:spLocks noGrp="1"/>
          </p:cNvSpPr>
          <p:nvPr>
            <p:ph type="sldNum" sz="quarter" idx="12"/>
          </p:nvPr>
        </p:nvSpPr>
        <p:spPr/>
        <p:txBody>
          <a:bodyPr/>
          <a:lstStyle/>
          <a:p>
            <a:fld id="{B78E1E51-35F9-44F4-B573-471678BCF4E5}" type="slidenum">
              <a:rPr lang="en-US" smtClean="0"/>
              <a:t>‹#›</a:t>
            </a:fld>
            <a:endParaRPr lang="en-US"/>
          </a:p>
        </p:txBody>
      </p:sp>
    </p:spTree>
    <p:extLst>
      <p:ext uri="{BB962C8B-B14F-4D97-AF65-F5344CB8AC3E}">
        <p14:creationId xmlns:p14="http://schemas.microsoft.com/office/powerpoint/2010/main" val="4172688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997DA-2035-F633-2D89-3DEF7CFA31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3F1C2F-AE2D-3BC6-8368-A16854EFB6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A5F6DE-CC3C-FC46-8BE3-05FC5A24D7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D91B98-6741-BEF4-3D0A-4050FE80E6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0703C6-86CD-D251-1DF3-20360C2643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C836D92-211C-DBFF-EB39-57F891ECE23E}"/>
              </a:ext>
            </a:extLst>
          </p:cNvPr>
          <p:cNvSpPr>
            <a:spLocks noGrp="1"/>
          </p:cNvSpPr>
          <p:nvPr>
            <p:ph type="dt" sz="half" idx="10"/>
          </p:nvPr>
        </p:nvSpPr>
        <p:spPr/>
        <p:txBody>
          <a:bodyPr/>
          <a:lstStyle/>
          <a:p>
            <a:fld id="{9967DA2E-A2D1-4D82-909A-FED262A60777}" type="datetimeFigureOut">
              <a:rPr lang="en-US" smtClean="0"/>
              <a:t>7/29/2026</a:t>
            </a:fld>
            <a:endParaRPr lang="en-US"/>
          </a:p>
        </p:txBody>
      </p:sp>
      <p:sp>
        <p:nvSpPr>
          <p:cNvPr id="8" name="Footer Placeholder 7">
            <a:extLst>
              <a:ext uri="{FF2B5EF4-FFF2-40B4-BE49-F238E27FC236}">
                <a16:creationId xmlns:a16="http://schemas.microsoft.com/office/drawing/2014/main" id="{691E1A79-5EE1-00C3-B72E-D93237AEF1D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059089-0A47-171F-A67C-1A66E3EC5805}"/>
              </a:ext>
            </a:extLst>
          </p:cNvPr>
          <p:cNvSpPr>
            <a:spLocks noGrp="1"/>
          </p:cNvSpPr>
          <p:nvPr>
            <p:ph type="sldNum" sz="quarter" idx="12"/>
          </p:nvPr>
        </p:nvSpPr>
        <p:spPr/>
        <p:txBody>
          <a:bodyPr/>
          <a:lstStyle/>
          <a:p>
            <a:fld id="{B78E1E51-35F9-44F4-B573-471678BCF4E5}" type="slidenum">
              <a:rPr lang="en-US" smtClean="0"/>
              <a:t>‹#›</a:t>
            </a:fld>
            <a:endParaRPr lang="en-US"/>
          </a:p>
        </p:txBody>
      </p:sp>
    </p:spTree>
    <p:extLst>
      <p:ext uri="{BB962C8B-B14F-4D97-AF65-F5344CB8AC3E}">
        <p14:creationId xmlns:p14="http://schemas.microsoft.com/office/powerpoint/2010/main" val="30025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D5686-2F69-593C-12F6-A85751EE04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B6C1B6-06C8-90DD-9A48-D15FF75A1280}"/>
              </a:ext>
            </a:extLst>
          </p:cNvPr>
          <p:cNvSpPr>
            <a:spLocks noGrp="1"/>
          </p:cNvSpPr>
          <p:nvPr>
            <p:ph type="dt" sz="half" idx="10"/>
          </p:nvPr>
        </p:nvSpPr>
        <p:spPr/>
        <p:txBody>
          <a:bodyPr/>
          <a:lstStyle/>
          <a:p>
            <a:fld id="{9967DA2E-A2D1-4D82-909A-FED262A60777}" type="datetimeFigureOut">
              <a:rPr lang="en-US" smtClean="0"/>
              <a:t>7/29/2026</a:t>
            </a:fld>
            <a:endParaRPr lang="en-US"/>
          </a:p>
        </p:txBody>
      </p:sp>
      <p:sp>
        <p:nvSpPr>
          <p:cNvPr id="4" name="Footer Placeholder 3">
            <a:extLst>
              <a:ext uri="{FF2B5EF4-FFF2-40B4-BE49-F238E27FC236}">
                <a16:creationId xmlns:a16="http://schemas.microsoft.com/office/drawing/2014/main" id="{952DD99D-41C4-E021-CE9E-9A9F8E5A3C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AC60DE-5DD3-E3C7-F93E-1301785F3DE0}"/>
              </a:ext>
            </a:extLst>
          </p:cNvPr>
          <p:cNvSpPr>
            <a:spLocks noGrp="1"/>
          </p:cNvSpPr>
          <p:nvPr>
            <p:ph type="sldNum" sz="quarter" idx="12"/>
          </p:nvPr>
        </p:nvSpPr>
        <p:spPr/>
        <p:txBody>
          <a:bodyPr/>
          <a:lstStyle/>
          <a:p>
            <a:fld id="{B78E1E51-35F9-44F4-B573-471678BCF4E5}" type="slidenum">
              <a:rPr lang="en-US" smtClean="0"/>
              <a:t>‹#›</a:t>
            </a:fld>
            <a:endParaRPr lang="en-US"/>
          </a:p>
        </p:txBody>
      </p:sp>
    </p:spTree>
    <p:extLst>
      <p:ext uri="{BB962C8B-B14F-4D97-AF65-F5344CB8AC3E}">
        <p14:creationId xmlns:p14="http://schemas.microsoft.com/office/powerpoint/2010/main" val="3114028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FD7FB8-1DDD-12A0-58FE-676739BE0B2B}"/>
              </a:ext>
            </a:extLst>
          </p:cNvPr>
          <p:cNvSpPr>
            <a:spLocks noGrp="1"/>
          </p:cNvSpPr>
          <p:nvPr>
            <p:ph type="dt" sz="half" idx="10"/>
          </p:nvPr>
        </p:nvSpPr>
        <p:spPr/>
        <p:txBody>
          <a:bodyPr/>
          <a:lstStyle/>
          <a:p>
            <a:fld id="{9967DA2E-A2D1-4D82-909A-FED262A60777}" type="datetimeFigureOut">
              <a:rPr lang="en-US" smtClean="0"/>
              <a:t>7/29/2026</a:t>
            </a:fld>
            <a:endParaRPr lang="en-US"/>
          </a:p>
        </p:txBody>
      </p:sp>
      <p:sp>
        <p:nvSpPr>
          <p:cNvPr id="3" name="Footer Placeholder 2">
            <a:extLst>
              <a:ext uri="{FF2B5EF4-FFF2-40B4-BE49-F238E27FC236}">
                <a16:creationId xmlns:a16="http://schemas.microsoft.com/office/drawing/2014/main" id="{2870DE38-D1EC-8D94-23E3-0A9420D5632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2DD3DF-0F68-0F74-99D7-F6B53AF88B32}"/>
              </a:ext>
            </a:extLst>
          </p:cNvPr>
          <p:cNvSpPr>
            <a:spLocks noGrp="1"/>
          </p:cNvSpPr>
          <p:nvPr>
            <p:ph type="sldNum" sz="quarter" idx="12"/>
          </p:nvPr>
        </p:nvSpPr>
        <p:spPr/>
        <p:txBody>
          <a:bodyPr/>
          <a:lstStyle/>
          <a:p>
            <a:fld id="{B78E1E51-35F9-44F4-B573-471678BCF4E5}" type="slidenum">
              <a:rPr lang="en-US" smtClean="0"/>
              <a:t>‹#›</a:t>
            </a:fld>
            <a:endParaRPr lang="en-US"/>
          </a:p>
        </p:txBody>
      </p:sp>
    </p:spTree>
    <p:extLst>
      <p:ext uri="{BB962C8B-B14F-4D97-AF65-F5344CB8AC3E}">
        <p14:creationId xmlns:p14="http://schemas.microsoft.com/office/powerpoint/2010/main" val="3349712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D8AC8-F1EA-3671-1650-4F15F8741F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E18CD8-D5D4-3538-E77B-C03F438C78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E33A180-FBE6-FEED-D88A-EEDCB8CE6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331BD1-468A-83EA-A089-273A4DEADB76}"/>
              </a:ext>
            </a:extLst>
          </p:cNvPr>
          <p:cNvSpPr>
            <a:spLocks noGrp="1"/>
          </p:cNvSpPr>
          <p:nvPr>
            <p:ph type="dt" sz="half" idx="10"/>
          </p:nvPr>
        </p:nvSpPr>
        <p:spPr/>
        <p:txBody>
          <a:bodyPr/>
          <a:lstStyle/>
          <a:p>
            <a:fld id="{9967DA2E-A2D1-4D82-909A-FED262A60777}" type="datetimeFigureOut">
              <a:rPr lang="en-US" smtClean="0"/>
              <a:t>7/29/2026</a:t>
            </a:fld>
            <a:endParaRPr lang="en-US"/>
          </a:p>
        </p:txBody>
      </p:sp>
      <p:sp>
        <p:nvSpPr>
          <p:cNvPr id="6" name="Footer Placeholder 5">
            <a:extLst>
              <a:ext uri="{FF2B5EF4-FFF2-40B4-BE49-F238E27FC236}">
                <a16:creationId xmlns:a16="http://schemas.microsoft.com/office/drawing/2014/main" id="{B9F088B1-4B61-9CAE-764D-DF1E5D5E19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F9932E-8022-5C5B-4AB5-190CB775AECB}"/>
              </a:ext>
            </a:extLst>
          </p:cNvPr>
          <p:cNvSpPr>
            <a:spLocks noGrp="1"/>
          </p:cNvSpPr>
          <p:nvPr>
            <p:ph type="sldNum" sz="quarter" idx="12"/>
          </p:nvPr>
        </p:nvSpPr>
        <p:spPr/>
        <p:txBody>
          <a:bodyPr/>
          <a:lstStyle/>
          <a:p>
            <a:fld id="{B78E1E51-35F9-44F4-B573-471678BCF4E5}" type="slidenum">
              <a:rPr lang="en-US" smtClean="0"/>
              <a:t>‹#›</a:t>
            </a:fld>
            <a:endParaRPr lang="en-US"/>
          </a:p>
        </p:txBody>
      </p:sp>
    </p:spTree>
    <p:extLst>
      <p:ext uri="{BB962C8B-B14F-4D97-AF65-F5344CB8AC3E}">
        <p14:creationId xmlns:p14="http://schemas.microsoft.com/office/powerpoint/2010/main" val="678210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C599A-7B75-D794-143B-4BA7BACBF8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55E4961-4A44-9F87-15C5-4B7121B3FF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765869-EEA1-685E-7EA7-400D64478A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660B77-FF01-20FF-C2C0-BBB7B1D6C491}"/>
              </a:ext>
            </a:extLst>
          </p:cNvPr>
          <p:cNvSpPr>
            <a:spLocks noGrp="1"/>
          </p:cNvSpPr>
          <p:nvPr>
            <p:ph type="dt" sz="half" idx="10"/>
          </p:nvPr>
        </p:nvSpPr>
        <p:spPr/>
        <p:txBody>
          <a:bodyPr/>
          <a:lstStyle/>
          <a:p>
            <a:fld id="{9967DA2E-A2D1-4D82-909A-FED262A60777}" type="datetimeFigureOut">
              <a:rPr lang="en-US" smtClean="0"/>
              <a:t>7/29/2026</a:t>
            </a:fld>
            <a:endParaRPr lang="en-US"/>
          </a:p>
        </p:txBody>
      </p:sp>
      <p:sp>
        <p:nvSpPr>
          <p:cNvPr id="6" name="Footer Placeholder 5">
            <a:extLst>
              <a:ext uri="{FF2B5EF4-FFF2-40B4-BE49-F238E27FC236}">
                <a16:creationId xmlns:a16="http://schemas.microsoft.com/office/drawing/2014/main" id="{0DC56B68-B479-8C2D-5033-A7E931DD1E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966357-8150-48D1-1B0B-79E7CFAE0DEA}"/>
              </a:ext>
            </a:extLst>
          </p:cNvPr>
          <p:cNvSpPr>
            <a:spLocks noGrp="1"/>
          </p:cNvSpPr>
          <p:nvPr>
            <p:ph type="sldNum" sz="quarter" idx="12"/>
          </p:nvPr>
        </p:nvSpPr>
        <p:spPr/>
        <p:txBody>
          <a:bodyPr/>
          <a:lstStyle/>
          <a:p>
            <a:fld id="{B78E1E51-35F9-44F4-B573-471678BCF4E5}" type="slidenum">
              <a:rPr lang="en-US" smtClean="0"/>
              <a:t>‹#›</a:t>
            </a:fld>
            <a:endParaRPr lang="en-US"/>
          </a:p>
        </p:txBody>
      </p:sp>
    </p:spTree>
    <p:extLst>
      <p:ext uri="{BB962C8B-B14F-4D97-AF65-F5344CB8AC3E}">
        <p14:creationId xmlns:p14="http://schemas.microsoft.com/office/powerpoint/2010/main" val="370667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15DA9-2061-EFF6-84DF-F0389998838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D766B8-3F6F-DEA0-EAE8-4F36300B6B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226AEC-6C17-2799-B03A-18B5B224BAEB}"/>
              </a:ext>
            </a:extLst>
          </p:cNvPr>
          <p:cNvSpPr>
            <a:spLocks noGrp="1"/>
          </p:cNvSpPr>
          <p:nvPr>
            <p:ph type="dt" sz="half" idx="10"/>
          </p:nvPr>
        </p:nvSpPr>
        <p:spPr/>
        <p:txBody>
          <a:bodyPr/>
          <a:lstStyle/>
          <a:p>
            <a:fld id="{9967DA2E-A2D1-4D82-909A-FED262A60777}" type="datetimeFigureOut">
              <a:rPr lang="en-US" smtClean="0"/>
              <a:t>7/29/2026</a:t>
            </a:fld>
            <a:endParaRPr lang="en-US"/>
          </a:p>
        </p:txBody>
      </p:sp>
      <p:sp>
        <p:nvSpPr>
          <p:cNvPr id="5" name="Footer Placeholder 4">
            <a:extLst>
              <a:ext uri="{FF2B5EF4-FFF2-40B4-BE49-F238E27FC236}">
                <a16:creationId xmlns:a16="http://schemas.microsoft.com/office/drawing/2014/main" id="{7D9F5F41-4306-394A-1962-B9331CF49B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385C31-5F44-1766-6B15-B6F454F29493}"/>
              </a:ext>
            </a:extLst>
          </p:cNvPr>
          <p:cNvSpPr>
            <a:spLocks noGrp="1"/>
          </p:cNvSpPr>
          <p:nvPr>
            <p:ph type="sldNum" sz="quarter" idx="12"/>
          </p:nvPr>
        </p:nvSpPr>
        <p:spPr/>
        <p:txBody>
          <a:bodyPr/>
          <a:lstStyle/>
          <a:p>
            <a:fld id="{B78E1E51-35F9-44F4-B573-471678BCF4E5}" type="slidenum">
              <a:rPr lang="en-US" smtClean="0"/>
              <a:t>‹#›</a:t>
            </a:fld>
            <a:endParaRPr lang="en-US"/>
          </a:p>
        </p:txBody>
      </p:sp>
    </p:spTree>
    <p:extLst>
      <p:ext uri="{BB962C8B-B14F-4D97-AF65-F5344CB8AC3E}">
        <p14:creationId xmlns:p14="http://schemas.microsoft.com/office/powerpoint/2010/main" val="2343222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27B276-B5C9-31A6-68C6-E3AB46FF0E9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520254-310C-E3A0-A67F-CE841D7950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40E92F-DCD3-CD69-624A-CD2D59584A72}"/>
              </a:ext>
            </a:extLst>
          </p:cNvPr>
          <p:cNvSpPr>
            <a:spLocks noGrp="1"/>
          </p:cNvSpPr>
          <p:nvPr>
            <p:ph type="dt" sz="half" idx="10"/>
          </p:nvPr>
        </p:nvSpPr>
        <p:spPr/>
        <p:txBody>
          <a:bodyPr/>
          <a:lstStyle/>
          <a:p>
            <a:fld id="{9967DA2E-A2D1-4D82-909A-FED262A60777}" type="datetimeFigureOut">
              <a:rPr lang="en-US" smtClean="0"/>
              <a:t>7/29/2026</a:t>
            </a:fld>
            <a:endParaRPr lang="en-US"/>
          </a:p>
        </p:txBody>
      </p:sp>
      <p:sp>
        <p:nvSpPr>
          <p:cNvPr id="5" name="Footer Placeholder 4">
            <a:extLst>
              <a:ext uri="{FF2B5EF4-FFF2-40B4-BE49-F238E27FC236}">
                <a16:creationId xmlns:a16="http://schemas.microsoft.com/office/drawing/2014/main" id="{D00AF688-770C-9CB7-A655-60627CC7CD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314733-CB99-5480-75BF-81F74387D683}"/>
              </a:ext>
            </a:extLst>
          </p:cNvPr>
          <p:cNvSpPr>
            <a:spLocks noGrp="1"/>
          </p:cNvSpPr>
          <p:nvPr>
            <p:ph type="sldNum" sz="quarter" idx="12"/>
          </p:nvPr>
        </p:nvSpPr>
        <p:spPr/>
        <p:txBody>
          <a:bodyPr/>
          <a:lstStyle/>
          <a:p>
            <a:fld id="{B78E1E51-35F9-44F4-B573-471678BCF4E5}" type="slidenum">
              <a:rPr lang="en-US" smtClean="0"/>
              <a:t>‹#›</a:t>
            </a:fld>
            <a:endParaRPr lang="en-US"/>
          </a:p>
        </p:txBody>
      </p:sp>
    </p:spTree>
    <p:extLst>
      <p:ext uri="{BB962C8B-B14F-4D97-AF65-F5344CB8AC3E}">
        <p14:creationId xmlns:p14="http://schemas.microsoft.com/office/powerpoint/2010/main" val="2094298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FB657-C8EA-CBD7-8E4F-95A1913003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7467FEB-7941-D419-F53B-266C2A9208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76C8E0-A7AF-13AF-99B7-FD0C5D7BBC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67DA2E-A2D1-4D82-909A-FED262A60777}" type="datetimeFigureOut">
              <a:rPr lang="en-US" smtClean="0"/>
              <a:t>7/29/2026</a:t>
            </a:fld>
            <a:endParaRPr lang="en-US"/>
          </a:p>
        </p:txBody>
      </p:sp>
      <p:sp>
        <p:nvSpPr>
          <p:cNvPr id="5" name="Footer Placeholder 4">
            <a:extLst>
              <a:ext uri="{FF2B5EF4-FFF2-40B4-BE49-F238E27FC236}">
                <a16:creationId xmlns:a16="http://schemas.microsoft.com/office/drawing/2014/main" id="{71CF076A-5BBB-038F-7D75-648338086E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AB163A1-A5CB-672A-F8E3-7286A1A8E6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8E1E51-35F9-44F4-B573-471678BCF4E5}" type="slidenum">
              <a:rPr lang="en-US" smtClean="0"/>
              <a:t>‹#›</a:t>
            </a:fld>
            <a:endParaRPr lang="en-US"/>
          </a:p>
        </p:txBody>
      </p:sp>
    </p:spTree>
    <p:extLst>
      <p:ext uri="{BB962C8B-B14F-4D97-AF65-F5344CB8AC3E}">
        <p14:creationId xmlns:p14="http://schemas.microsoft.com/office/powerpoint/2010/main" val="419400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9EFB74A-5A1A-134E-5419-C213F24B92F4}"/>
              </a:ext>
            </a:extLst>
          </p:cNvPr>
          <p:cNvSpPr/>
          <p:nvPr/>
        </p:nvSpPr>
        <p:spPr>
          <a:xfrm>
            <a:off x="942763" y="303445"/>
            <a:ext cx="10958854" cy="72000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b="1" dirty="0"/>
              <a:t>OpenMalaria</a:t>
            </a:r>
            <a:endParaRPr lang="en-US" b="1" dirty="0"/>
          </a:p>
        </p:txBody>
      </p:sp>
      <p:sp>
        <p:nvSpPr>
          <p:cNvPr id="9" name="Rectangle 8">
            <a:extLst>
              <a:ext uri="{FF2B5EF4-FFF2-40B4-BE49-F238E27FC236}">
                <a16:creationId xmlns:a16="http://schemas.microsoft.com/office/drawing/2014/main" id="{C4429F6B-1B38-21F4-F477-40BBBEF1A9E9}"/>
              </a:ext>
            </a:extLst>
          </p:cNvPr>
          <p:cNvSpPr/>
          <p:nvPr/>
        </p:nvSpPr>
        <p:spPr>
          <a:xfrm rot="16200000">
            <a:off x="-410787" y="2644112"/>
            <a:ext cx="1980001" cy="521420"/>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b="1" dirty="0"/>
              <a:t>Simulation </a:t>
            </a:r>
            <a:r>
              <a:rPr lang="de-CH" b="1" dirty="0" err="1"/>
              <a:t>set</a:t>
            </a:r>
            <a:r>
              <a:rPr lang="de-CH" b="1" dirty="0"/>
              <a:t> 1</a:t>
            </a:r>
          </a:p>
        </p:txBody>
      </p:sp>
      <p:sp>
        <p:nvSpPr>
          <p:cNvPr id="10" name="Rectangle 9">
            <a:extLst>
              <a:ext uri="{FF2B5EF4-FFF2-40B4-BE49-F238E27FC236}">
                <a16:creationId xmlns:a16="http://schemas.microsoft.com/office/drawing/2014/main" id="{EF93F607-9D74-D00F-7914-608273C116D1}"/>
              </a:ext>
            </a:extLst>
          </p:cNvPr>
          <p:cNvSpPr/>
          <p:nvPr/>
        </p:nvSpPr>
        <p:spPr>
          <a:xfrm rot="16200000">
            <a:off x="-410788" y="4706108"/>
            <a:ext cx="1980003" cy="521421"/>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b="1" dirty="0"/>
              <a:t>Simulation </a:t>
            </a:r>
            <a:r>
              <a:rPr lang="de-CH" b="1" dirty="0" err="1"/>
              <a:t>set</a:t>
            </a:r>
            <a:r>
              <a:rPr lang="de-CH" b="1" dirty="0"/>
              <a:t> 2</a:t>
            </a:r>
            <a:endParaRPr lang="en-US" b="1" dirty="0"/>
          </a:p>
        </p:txBody>
      </p:sp>
      <p:sp>
        <p:nvSpPr>
          <p:cNvPr id="20" name="Rectangle 19">
            <a:extLst>
              <a:ext uri="{FF2B5EF4-FFF2-40B4-BE49-F238E27FC236}">
                <a16:creationId xmlns:a16="http://schemas.microsoft.com/office/drawing/2014/main" id="{15E4273E-BB1A-A146-F750-983743BEA550}"/>
              </a:ext>
            </a:extLst>
          </p:cNvPr>
          <p:cNvSpPr/>
          <p:nvPr/>
        </p:nvSpPr>
        <p:spPr>
          <a:xfrm>
            <a:off x="5225133" y="1897710"/>
            <a:ext cx="2149021" cy="4059106"/>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000" indent="-144000">
              <a:buFont typeface="Arial" panose="020B0604020202020204" pitchFamily="34" charset="0"/>
              <a:buChar char="•"/>
            </a:pPr>
            <a:r>
              <a:rPr lang="en-GB" sz="1600" b="1" dirty="0">
                <a:solidFill>
                  <a:schemeClr val="tx1"/>
                </a:solidFill>
              </a:rPr>
              <a:t>Parametrisation 1</a:t>
            </a:r>
            <a:endParaRPr lang="en-US" sz="1600" b="1" dirty="0">
              <a:solidFill>
                <a:schemeClr val="tx1"/>
              </a:solidFill>
            </a:endParaRPr>
          </a:p>
          <a:p>
            <a:pPr marL="144000" indent="-144000">
              <a:buFont typeface="Arial" panose="020B0604020202020204" pitchFamily="34" charset="0"/>
              <a:buChar char="•"/>
            </a:pPr>
            <a:endParaRPr lang="en-US" sz="1600" b="1" dirty="0">
              <a:solidFill>
                <a:schemeClr val="tx1"/>
              </a:solidFill>
            </a:endParaRPr>
          </a:p>
          <a:p>
            <a:pPr marL="144000" indent="-144000">
              <a:buFont typeface="Arial" panose="020B0604020202020204" pitchFamily="34" charset="0"/>
              <a:buChar char="•"/>
            </a:pPr>
            <a:endParaRPr lang="en-US" sz="1600" b="1" dirty="0">
              <a:solidFill>
                <a:schemeClr val="tx1"/>
              </a:solidFill>
            </a:endParaRPr>
          </a:p>
          <a:p>
            <a:pPr marL="144000" indent="-144000">
              <a:buFont typeface="Arial" panose="020B0604020202020204" pitchFamily="34" charset="0"/>
              <a:buChar char="•"/>
            </a:pPr>
            <a:r>
              <a:rPr lang="en-GB" sz="1600" b="1" dirty="0">
                <a:solidFill>
                  <a:schemeClr val="tx1"/>
                </a:solidFill>
              </a:rPr>
              <a:t>Parametrisation 2A</a:t>
            </a:r>
          </a:p>
          <a:p>
            <a:pPr marL="144000" indent="-144000">
              <a:buFont typeface="Arial" panose="020B0604020202020204" pitchFamily="34" charset="0"/>
              <a:buChar char="•"/>
            </a:pPr>
            <a:endParaRPr lang="en-GB" sz="1600" b="1" dirty="0">
              <a:solidFill>
                <a:schemeClr val="tx1"/>
              </a:solidFill>
            </a:endParaRPr>
          </a:p>
          <a:p>
            <a:pPr marL="144000" indent="-144000">
              <a:buFont typeface="Arial" panose="020B0604020202020204" pitchFamily="34" charset="0"/>
              <a:buChar char="•"/>
            </a:pPr>
            <a:endParaRPr lang="en-GB" sz="1600" b="1" dirty="0">
              <a:solidFill>
                <a:schemeClr val="tx1"/>
              </a:solidFill>
            </a:endParaRPr>
          </a:p>
          <a:p>
            <a:pPr marL="144000" indent="-144000">
              <a:buFont typeface="Arial" panose="020B0604020202020204" pitchFamily="34" charset="0"/>
              <a:buChar char="•"/>
            </a:pPr>
            <a:r>
              <a:rPr lang="en-GB" sz="1600" b="1" dirty="0">
                <a:solidFill>
                  <a:schemeClr val="tx1"/>
                </a:solidFill>
              </a:rPr>
              <a:t>Parametrisation 2B</a:t>
            </a:r>
            <a:endParaRPr lang="en-US" sz="1600" b="1" dirty="0">
              <a:solidFill>
                <a:schemeClr val="tx1"/>
              </a:solidFill>
            </a:endParaRPr>
          </a:p>
        </p:txBody>
      </p:sp>
      <p:graphicFrame>
        <p:nvGraphicFramePr>
          <p:cNvPr id="25" name="Table 24">
            <a:extLst>
              <a:ext uri="{FF2B5EF4-FFF2-40B4-BE49-F238E27FC236}">
                <a16:creationId xmlns:a16="http://schemas.microsoft.com/office/drawing/2014/main" id="{7365A1F7-912C-591A-9DE3-F1F448114A81}"/>
              </a:ext>
            </a:extLst>
          </p:cNvPr>
          <p:cNvGraphicFramePr>
            <a:graphicFrameLocks noGrp="1"/>
          </p:cNvGraphicFramePr>
          <p:nvPr>
            <p:extLst>
              <p:ext uri="{D42A27DB-BD31-4B8C-83A1-F6EECF244321}">
                <p14:modId xmlns:p14="http://schemas.microsoft.com/office/powerpoint/2010/main" val="449604880"/>
              </p:ext>
            </p:extLst>
          </p:nvPr>
        </p:nvGraphicFramePr>
        <p:xfrm>
          <a:off x="9826330" y="1914822"/>
          <a:ext cx="2075287" cy="1979999"/>
        </p:xfrm>
        <a:graphic>
          <a:graphicData uri="http://schemas.openxmlformats.org/drawingml/2006/table">
            <a:tbl>
              <a:tblPr firstRow="1" firstCol="1" bandRow="1">
                <a:tableStyleId>{5C22544A-7EE6-4342-B048-85BDC9FD1C3A}</a:tableStyleId>
              </a:tblPr>
              <a:tblGrid>
                <a:gridCol w="2075287">
                  <a:extLst>
                    <a:ext uri="{9D8B030D-6E8A-4147-A177-3AD203B41FA5}">
                      <a16:colId xmlns:a16="http://schemas.microsoft.com/office/drawing/2014/main" val="897902295"/>
                    </a:ext>
                  </a:extLst>
                </a:gridCol>
              </a:tblGrid>
              <a:tr h="1979999">
                <a:tc>
                  <a:txBody>
                    <a:bodyPr/>
                    <a:lstStyle/>
                    <a:p>
                      <a:pPr marL="72000" indent="0" algn="l">
                        <a:spcBef>
                          <a:spcPts val="0"/>
                        </a:spcBef>
                        <a:buFont typeface="Arial" panose="020B0604020202020204" pitchFamily="34" charset="0"/>
                        <a:buNone/>
                      </a:pPr>
                      <a:r>
                        <a:rPr lang="en-GB" sz="1600" b="1" dirty="0">
                          <a:solidFill>
                            <a:schemeClr val="tx1"/>
                          </a:solidFill>
                          <a:ea typeface="Aptos" panose="020B0004020202020204" pitchFamily="34" charset="0"/>
                          <a:cs typeface="Arial" panose="020B0604020202020204" pitchFamily="34" charset="0"/>
                        </a:rPr>
                        <a:t>I</a:t>
                      </a:r>
                      <a:r>
                        <a:rPr lang="en-GB" sz="1600" b="1" dirty="0">
                          <a:solidFill>
                            <a:schemeClr val="tx1"/>
                          </a:solidFill>
                          <a:effectLst/>
                          <a:ea typeface="Aptos" panose="020B0004020202020204" pitchFamily="34" charset="0"/>
                          <a:cs typeface="Arial" panose="020B0604020202020204" pitchFamily="34" charset="0"/>
                        </a:rPr>
                        <a:t>ncidence</a:t>
                      </a:r>
                      <a:r>
                        <a:rPr lang="en-GB" sz="1600" b="0" dirty="0">
                          <a:solidFill>
                            <a:schemeClr val="tx1"/>
                          </a:solidFill>
                          <a:effectLst/>
                          <a:ea typeface="Aptos" panose="020B0004020202020204" pitchFamily="34" charset="0"/>
                          <a:cs typeface="Arial" panose="020B0604020202020204" pitchFamily="34" charset="0"/>
                        </a:rPr>
                        <a:t> of uncomplicated malaria cases in the </a:t>
                      </a:r>
                      <a:r>
                        <a:rPr lang="en-GB" sz="1600" b="1" dirty="0">
                          <a:solidFill>
                            <a:schemeClr val="tx1"/>
                          </a:solidFill>
                          <a:effectLst/>
                          <a:ea typeface="Aptos" panose="020B0004020202020204" pitchFamily="34" charset="0"/>
                          <a:cs typeface="Arial" panose="020B0604020202020204" pitchFamily="34" charset="0"/>
                        </a:rPr>
                        <a:t>whole population </a:t>
                      </a:r>
                      <a:r>
                        <a:rPr lang="en-GB" sz="1600" b="0" dirty="0">
                          <a:solidFill>
                            <a:schemeClr val="tx1"/>
                          </a:solidFill>
                          <a:effectLst/>
                          <a:ea typeface="Aptos" panose="020B0004020202020204" pitchFamily="34" charset="0"/>
                          <a:cs typeface="Arial" panose="020B0604020202020204" pitchFamily="34" charset="0"/>
                        </a:rPr>
                        <a:t>over a </a:t>
                      </a:r>
                      <a:r>
                        <a:rPr lang="en-GB" sz="1600" b="1" dirty="0">
                          <a:solidFill>
                            <a:schemeClr val="tx1"/>
                          </a:solidFill>
                          <a:effectLst/>
                          <a:ea typeface="Aptos" panose="020B0004020202020204" pitchFamily="34" charset="0"/>
                          <a:cs typeface="Arial" panose="020B0604020202020204" pitchFamily="34" charset="0"/>
                        </a:rPr>
                        <a:t>12-year period</a:t>
                      </a:r>
                      <a:endParaRPr lang="en-US" sz="1600" b="1" dirty="0">
                        <a:solidFill>
                          <a:schemeClr val="tx1"/>
                        </a:solidFill>
                      </a:endParaRPr>
                    </a:p>
                  </a:txBody>
                  <a:tcPr marL="68580" marR="68580" marT="0" marB="0" anchor="ctr">
                    <a:solidFill>
                      <a:schemeClr val="accent5">
                        <a:lumMod val="20000"/>
                        <a:lumOff val="80000"/>
                      </a:schemeClr>
                    </a:solidFill>
                  </a:tcPr>
                </a:tc>
                <a:extLst>
                  <a:ext uri="{0D108BD9-81ED-4DB2-BD59-A6C34878D82A}">
                    <a16:rowId xmlns:a16="http://schemas.microsoft.com/office/drawing/2014/main" val="576808931"/>
                  </a:ext>
                </a:extLst>
              </a:tr>
            </a:tbl>
          </a:graphicData>
        </a:graphic>
      </p:graphicFrame>
      <p:graphicFrame>
        <p:nvGraphicFramePr>
          <p:cNvPr id="26" name="Table 25">
            <a:extLst>
              <a:ext uri="{FF2B5EF4-FFF2-40B4-BE49-F238E27FC236}">
                <a16:creationId xmlns:a16="http://schemas.microsoft.com/office/drawing/2014/main" id="{D6A2342D-384B-04E7-EFCB-9CA7A03EE595}"/>
              </a:ext>
            </a:extLst>
          </p:cNvPr>
          <p:cNvGraphicFramePr>
            <a:graphicFrameLocks noGrp="1"/>
          </p:cNvGraphicFramePr>
          <p:nvPr>
            <p:extLst>
              <p:ext uri="{D42A27DB-BD31-4B8C-83A1-F6EECF244321}">
                <p14:modId xmlns:p14="http://schemas.microsoft.com/office/powerpoint/2010/main" val="3601141094"/>
              </p:ext>
            </p:extLst>
          </p:nvPr>
        </p:nvGraphicFramePr>
        <p:xfrm>
          <a:off x="9826330" y="3976817"/>
          <a:ext cx="2064990" cy="1980000"/>
        </p:xfrm>
        <a:graphic>
          <a:graphicData uri="http://schemas.openxmlformats.org/drawingml/2006/table">
            <a:tbl>
              <a:tblPr firstRow="1" firstCol="1" bandRow="1">
                <a:tableStyleId>{5C22544A-7EE6-4342-B048-85BDC9FD1C3A}</a:tableStyleId>
              </a:tblPr>
              <a:tblGrid>
                <a:gridCol w="2064990">
                  <a:extLst>
                    <a:ext uri="{9D8B030D-6E8A-4147-A177-3AD203B41FA5}">
                      <a16:colId xmlns:a16="http://schemas.microsoft.com/office/drawing/2014/main" val="897902295"/>
                    </a:ext>
                  </a:extLst>
                </a:gridCol>
              </a:tblGrid>
              <a:tr h="1980000">
                <a:tc>
                  <a:txBody>
                    <a:bodyPr/>
                    <a:lstStyle/>
                    <a:p>
                      <a:pPr marL="72000" indent="0" algn="l">
                        <a:buFont typeface="Arial" panose="020B0604020202020204" pitchFamily="34" charset="0"/>
                        <a:buNone/>
                      </a:pPr>
                      <a:r>
                        <a:rPr lang="en-GB" sz="1600" b="1" dirty="0">
                          <a:solidFill>
                            <a:schemeClr val="tx1"/>
                          </a:solidFill>
                          <a:ea typeface="Aptos" panose="020B0004020202020204" pitchFamily="34" charset="0"/>
                          <a:cs typeface="Arial" panose="020B0604020202020204" pitchFamily="34" charset="0"/>
                        </a:rPr>
                        <a:t>Incidence</a:t>
                      </a:r>
                      <a:r>
                        <a:rPr lang="en-GB" sz="1600" b="0" dirty="0">
                          <a:solidFill>
                            <a:schemeClr val="tx1"/>
                          </a:solidFill>
                          <a:ea typeface="Aptos" panose="020B0004020202020204" pitchFamily="34" charset="0"/>
                          <a:cs typeface="Arial" panose="020B0604020202020204" pitchFamily="34" charset="0"/>
                        </a:rPr>
                        <a:t> of uncomplicated malaria cases </a:t>
                      </a:r>
                      <a:r>
                        <a:rPr lang="en-GB" sz="1600" b="0" dirty="0">
                          <a:solidFill>
                            <a:schemeClr val="tx1"/>
                          </a:solidFill>
                          <a:effectLst/>
                          <a:ea typeface="Yu Mincho" panose="02020400000000000000" pitchFamily="18" charset="-128"/>
                          <a:cs typeface="Arial" panose="020B0604020202020204" pitchFamily="34" charset="0"/>
                        </a:rPr>
                        <a:t>among</a:t>
                      </a:r>
                      <a:r>
                        <a:rPr lang="en-GB" sz="1600" dirty="0">
                          <a:solidFill>
                            <a:schemeClr val="tx1"/>
                          </a:solidFill>
                          <a:effectLst/>
                          <a:ea typeface="Yu Mincho" panose="02020400000000000000" pitchFamily="18" charset="-128"/>
                          <a:cs typeface="Arial" panose="020B0604020202020204" pitchFamily="34" charset="0"/>
                        </a:rPr>
                        <a:t> ITN users and </a:t>
                      </a:r>
                      <a:r>
                        <a:rPr lang="en-GB" sz="1600" dirty="0">
                          <a:solidFill>
                            <a:schemeClr val="tx1"/>
                          </a:solidFill>
                          <a:ea typeface="Yu Mincho" panose="02020400000000000000" pitchFamily="18" charset="-128"/>
                          <a:cs typeface="Arial" panose="020B0604020202020204" pitchFamily="34" charset="0"/>
                        </a:rPr>
                        <a:t>ITN non-users </a:t>
                      </a:r>
                      <a:r>
                        <a:rPr lang="en-GB" sz="1600" b="0" dirty="0">
                          <a:solidFill>
                            <a:schemeClr val="tx1"/>
                          </a:solidFill>
                          <a:effectLst/>
                          <a:ea typeface="Yu Mincho" panose="02020400000000000000" pitchFamily="18" charset="-128"/>
                          <a:cs typeface="Arial" panose="020B0604020202020204" pitchFamily="34" charset="0"/>
                        </a:rPr>
                        <a:t>over a </a:t>
                      </a:r>
                      <a:r>
                        <a:rPr lang="en-GB" sz="1600" dirty="0">
                          <a:solidFill>
                            <a:schemeClr val="tx1"/>
                          </a:solidFill>
                          <a:effectLst/>
                          <a:ea typeface="Yu Mincho" panose="02020400000000000000" pitchFamily="18" charset="-128"/>
                          <a:cs typeface="Arial" panose="020B0604020202020204" pitchFamily="34" charset="0"/>
                        </a:rPr>
                        <a:t>3-year period</a:t>
                      </a:r>
                      <a:endParaRPr lang="en-US" sz="1600" dirty="0">
                        <a:solidFill>
                          <a:schemeClr val="tx1"/>
                        </a:solidFill>
                      </a:endParaRPr>
                    </a:p>
                  </a:txBody>
                  <a:tcPr marL="68580" marR="68580" marT="0" marB="0" anchor="ctr">
                    <a:solidFill>
                      <a:schemeClr val="accent4">
                        <a:lumMod val="20000"/>
                        <a:lumOff val="80000"/>
                      </a:schemeClr>
                    </a:solidFill>
                  </a:tcPr>
                </a:tc>
                <a:extLst>
                  <a:ext uri="{0D108BD9-81ED-4DB2-BD59-A6C34878D82A}">
                    <a16:rowId xmlns:a16="http://schemas.microsoft.com/office/drawing/2014/main" val="576808931"/>
                  </a:ext>
                </a:extLst>
              </a:tr>
            </a:tbl>
          </a:graphicData>
        </a:graphic>
      </p:graphicFrame>
      <p:graphicFrame>
        <p:nvGraphicFramePr>
          <p:cNvPr id="2" name="Table 1">
            <a:extLst>
              <a:ext uri="{FF2B5EF4-FFF2-40B4-BE49-F238E27FC236}">
                <a16:creationId xmlns:a16="http://schemas.microsoft.com/office/drawing/2014/main" id="{A045E7D0-9391-CE3A-3DED-230FDB030FA9}"/>
              </a:ext>
            </a:extLst>
          </p:cNvPr>
          <p:cNvGraphicFramePr>
            <a:graphicFrameLocks noGrp="1"/>
          </p:cNvGraphicFramePr>
          <p:nvPr>
            <p:extLst>
              <p:ext uri="{D42A27DB-BD31-4B8C-83A1-F6EECF244321}">
                <p14:modId xmlns:p14="http://schemas.microsoft.com/office/powerpoint/2010/main" val="4095518209"/>
              </p:ext>
            </p:extLst>
          </p:nvPr>
        </p:nvGraphicFramePr>
        <p:xfrm>
          <a:off x="942763" y="3976817"/>
          <a:ext cx="4158155" cy="1979999"/>
        </p:xfrm>
        <a:graphic>
          <a:graphicData uri="http://schemas.openxmlformats.org/drawingml/2006/table">
            <a:tbl>
              <a:tblPr firstRow="1" firstCol="1" bandRow="1">
                <a:tableStyleId>{5C22544A-7EE6-4342-B048-85BDC9FD1C3A}</a:tableStyleId>
              </a:tblPr>
              <a:tblGrid>
                <a:gridCol w="4158155">
                  <a:extLst>
                    <a:ext uri="{9D8B030D-6E8A-4147-A177-3AD203B41FA5}">
                      <a16:colId xmlns:a16="http://schemas.microsoft.com/office/drawing/2014/main" val="897902295"/>
                    </a:ext>
                  </a:extLst>
                </a:gridCol>
              </a:tblGrid>
              <a:tr h="1979999">
                <a:tc>
                  <a:txBody>
                    <a:bodyPr/>
                    <a:lstStyle/>
                    <a:p>
                      <a:pPr marL="144000" marR="0" lvl="0" indent="-14400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tab pos="457200" algn="l"/>
                        </a:tabLst>
                        <a:defRPr/>
                      </a:pPr>
                      <a:r>
                        <a:rPr lang="en-GB" sz="1600" b="1" kern="100" dirty="0">
                          <a:solidFill>
                            <a:schemeClr val="tx1"/>
                          </a:solidFill>
                          <a:effectLst/>
                          <a:ea typeface="Aptos" panose="020B0004020202020204" pitchFamily="34" charset="0"/>
                          <a:cs typeface="Arial" panose="020B0604020202020204" pitchFamily="34" charset="0"/>
                        </a:rPr>
                        <a:t>PYR-ITNs</a:t>
                      </a:r>
                      <a:r>
                        <a:rPr lang="en-GB" sz="1600" b="0" kern="100" dirty="0">
                          <a:solidFill>
                            <a:schemeClr val="tx1"/>
                          </a:solidFill>
                          <a:effectLst/>
                          <a:ea typeface="Aptos" panose="020B0004020202020204" pitchFamily="34" charset="0"/>
                          <a:cs typeface="Arial" panose="020B0604020202020204" pitchFamily="34" charset="0"/>
                        </a:rPr>
                        <a:t> </a:t>
                      </a:r>
                      <a:r>
                        <a:rPr lang="en-GB" sz="1600" b="0" kern="100" dirty="0">
                          <a:solidFill>
                            <a:schemeClr val="tx1"/>
                          </a:solidFill>
                          <a:ea typeface="Aptos" panose="020B0004020202020204" pitchFamily="34" charset="0"/>
                          <a:cs typeface="Arial" panose="020B0604020202020204" pitchFamily="34" charset="0"/>
                        </a:rPr>
                        <a:t>(baseline coverage, every 3 years)</a:t>
                      </a:r>
                      <a:endParaRPr lang="en-GB" sz="1600" b="0" kern="100" dirty="0">
                        <a:solidFill>
                          <a:schemeClr val="tx1"/>
                        </a:solidFill>
                        <a:effectLst/>
                        <a:ea typeface="Aptos" panose="020B0004020202020204" pitchFamily="34" charset="0"/>
                        <a:cs typeface="Arial" panose="020B0604020202020204" pitchFamily="34" charset="0"/>
                      </a:endParaRPr>
                    </a:p>
                    <a:p>
                      <a:pPr marL="144000" lvl="0" indent="-144000" algn="just">
                        <a:spcAft>
                          <a:spcPts val="600"/>
                        </a:spcAft>
                        <a:buFont typeface="Arial" panose="020B0604020202020204" pitchFamily="34" charset="0"/>
                        <a:buChar char="•"/>
                        <a:tabLst>
                          <a:tab pos="457200" algn="l"/>
                        </a:tabLst>
                      </a:pPr>
                      <a:r>
                        <a:rPr lang="en-GB" sz="1600" b="1" kern="100" dirty="0">
                          <a:solidFill>
                            <a:schemeClr val="tx1"/>
                          </a:solidFill>
                          <a:effectLst/>
                          <a:ea typeface="Aptos" panose="020B0004020202020204" pitchFamily="34" charset="0"/>
                          <a:cs typeface="Arial" panose="020B0604020202020204" pitchFamily="34" charset="0"/>
                        </a:rPr>
                        <a:t>CFP-PYR-ITN</a:t>
                      </a:r>
                      <a:r>
                        <a:rPr lang="en-GB" sz="1600" b="0" kern="100" dirty="0">
                          <a:solidFill>
                            <a:schemeClr val="tx1"/>
                          </a:solidFill>
                          <a:effectLst/>
                          <a:ea typeface="Aptos" panose="020B0004020202020204" pitchFamily="34" charset="0"/>
                          <a:cs typeface="Arial" panose="020B0604020202020204" pitchFamily="34" charset="0"/>
                        </a:rPr>
                        <a:t> </a:t>
                      </a:r>
                      <a:r>
                        <a:rPr lang="en-GB" sz="1600" b="0" dirty="0">
                          <a:solidFill>
                            <a:schemeClr val="tx1"/>
                          </a:solidFill>
                        </a:rPr>
                        <a:t>at </a:t>
                      </a:r>
                      <a:r>
                        <a:rPr lang="en-GB" sz="1600" b="1" dirty="0">
                          <a:solidFill>
                            <a:schemeClr val="tx1"/>
                          </a:solidFill>
                        </a:rPr>
                        <a:t>reduced coverage </a:t>
                      </a:r>
                      <a:r>
                        <a:rPr lang="en-GB" sz="1600" b="0" dirty="0">
                          <a:solidFill>
                            <a:schemeClr val="tx1"/>
                          </a:solidFill>
                        </a:rPr>
                        <a:t>(for various coverage levels)</a:t>
                      </a:r>
                      <a:endParaRPr lang="en-GB" sz="1600" b="0" kern="100" dirty="0">
                        <a:solidFill>
                          <a:schemeClr val="tx1"/>
                        </a:solidFill>
                        <a:effectLst/>
                        <a:ea typeface="Aptos" panose="020B0004020202020204" pitchFamily="34" charset="0"/>
                        <a:cs typeface="Arial" panose="020B0604020202020204" pitchFamily="34" charset="0"/>
                      </a:endParaRPr>
                    </a:p>
                  </a:txBody>
                  <a:tcPr marL="68580" marR="68580" marT="0" marB="0" anchor="ctr">
                    <a:solidFill>
                      <a:schemeClr val="accent4">
                        <a:lumMod val="20000"/>
                        <a:lumOff val="80000"/>
                      </a:schemeClr>
                    </a:solidFill>
                  </a:tcPr>
                </a:tc>
                <a:extLst>
                  <a:ext uri="{0D108BD9-81ED-4DB2-BD59-A6C34878D82A}">
                    <a16:rowId xmlns:a16="http://schemas.microsoft.com/office/drawing/2014/main" val="576808931"/>
                  </a:ext>
                </a:extLst>
              </a:tr>
            </a:tbl>
          </a:graphicData>
        </a:graphic>
      </p:graphicFrame>
      <p:graphicFrame>
        <p:nvGraphicFramePr>
          <p:cNvPr id="12" name="Table 11">
            <a:extLst>
              <a:ext uri="{FF2B5EF4-FFF2-40B4-BE49-F238E27FC236}">
                <a16:creationId xmlns:a16="http://schemas.microsoft.com/office/drawing/2014/main" id="{B83803BF-06FE-E3B0-32DE-6AE0FC38E418}"/>
              </a:ext>
            </a:extLst>
          </p:cNvPr>
          <p:cNvGraphicFramePr>
            <a:graphicFrameLocks noGrp="1"/>
          </p:cNvGraphicFramePr>
          <p:nvPr>
            <p:extLst>
              <p:ext uri="{D42A27DB-BD31-4B8C-83A1-F6EECF244321}">
                <p14:modId xmlns:p14="http://schemas.microsoft.com/office/powerpoint/2010/main" val="631069655"/>
              </p:ext>
            </p:extLst>
          </p:nvPr>
        </p:nvGraphicFramePr>
        <p:xfrm>
          <a:off x="942763" y="1914822"/>
          <a:ext cx="4158155" cy="1979999"/>
        </p:xfrm>
        <a:graphic>
          <a:graphicData uri="http://schemas.openxmlformats.org/drawingml/2006/table">
            <a:tbl>
              <a:tblPr firstRow="1" firstCol="1" bandRow="1">
                <a:tableStyleId>{5C22544A-7EE6-4342-B048-85BDC9FD1C3A}</a:tableStyleId>
              </a:tblPr>
              <a:tblGrid>
                <a:gridCol w="4158155">
                  <a:extLst>
                    <a:ext uri="{9D8B030D-6E8A-4147-A177-3AD203B41FA5}">
                      <a16:colId xmlns:a16="http://schemas.microsoft.com/office/drawing/2014/main" val="897902295"/>
                    </a:ext>
                  </a:extLst>
                </a:gridCol>
              </a:tblGrid>
              <a:tr h="1979999">
                <a:tc>
                  <a:txBody>
                    <a:bodyPr/>
                    <a:lstStyle/>
                    <a:p>
                      <a:pPr marL="144000" lvl="0" indent="-144000" algn="just">
                        <a:spcAft>
                          <a:spcPts val="600"/>
                        </a:spcAft>
                        <a:buFont typeface="Arial" panose="020B0604020202020204" pitchFamily="34" charset="0"/>
                        <a:buChar char="•"/>
                        <a:tabLst>
                          <a:tab pos="457200" algn="l"/>
                        </a:tabLst>
                      </a:pPr>
                      <a:r>
                        <a:rPr lang="en-GB" sz="1600" b="1" kern="100" dirty="0">
                          <a:solidFill>
                            <a:schemeClr val="tx1"/>
                          </a:solidFill>
                          <a:effectLst/>
                          <a:ea typeface="Aptos" panose="020B0004020202020204" pitchFamily="34" charset="0"/>
                          <a:cs typeface="Arial" panose="020B0604020202020204" pitchFamily="34" charset="0"/>
                        </a:rPr>
                        <a:t>PYR-ITNs</a:t>
                      </a:r>
                      <a:r>
                        <a:rPr lang="en-GB" sz="1600" b="0" kern="100" dirty="0">
                          <a:solidFill>
                            <a:schemeClr val="tx1"/>
                          </a:solidFill>
                          <a:ea typeface="Aptos" panose="020B0004020202020204" pitchFamily="34" charset="0"/>
                          <a:cs typeface="Arial" panose="020B0604020202020204" pitchFamily="34" charset="0"/>
                        </a:rPr>
                        <a:t> (baseline coverage, every 3 years)</a:t>
                      </a:r>
                      <a:endParaRPr lang="en-GB" sz="1600" b="0" kern="100" dirty="0">
                        <a:solidFill>
                          <a:schemeClr val="tx1"/>
                        </a:solidFill>
                        <a:effectLst/>
                        <a:ea typeface="Aptos" panose="020B0004020202020204" pitchFamily="34" charset="0"/>
                        <a:cs typeface="Arial" panose="020B0604020202020204" pitchFamily="34" charset="0"/>
                      </a:endParaRPr>
                    </a:p>
                    <a:p>
                      <a:pPr marL="144000" lvl="0" indent="-144000" algn="just">
                        <a:spcAft>
                          <a:spcPts val="600"/>
                        </a:spcAft>
                        <a:buFont typeface="Arial" panose="020B0604020202020204" pitchFamily="34" charset="0"/>
                        <a:buChar char="•"/>
                        <a:tabLst>
                          <a:tab pos="457200" algn="l"/>
                        </a:tabLst>
                      </a:pPr>
                      <a:r>
                        <a:rPr lang="en-GB" sz="1600" b="1" kern="100" dirty="0">
                          <a:solidFill>
                            <a:schemeClr val="tx1"/>
                          </a:solidFill>
                          <a:effectLst/>
                          <a:ea typeface="Aptos" panose="020B0004020202020204" pitchFamily="34" charset="0"/>
                          <a:cs typeface="Arial" panose="020B0604020202020204" pitchFamily="34" charset="0"/>
                        </a:rPr>
                        <a:t>CFP-PYR-ITN</a:t>
                      </a:r>
                      <a:r>
                        <a:rPr lang="en-GB" sz="1600" b="0" kern="100" dirty="0">
                          <a:solidFill>
                            <a:schemeClr val="tx1"/>
                          </a:solidFill>
                          <a:effectLst/>
                          <a:ea typeface="Aptos" panose="020B0004020202020204" pitchFamily="34" charset="0"/>
                          <a:cs typeface="Arial" panose="020B0604020202020204" pitchFamily="34" charset="0"/>
                        </a:rPr>
                        <a:t> without compromise</a:t>
                      </a:r>
                      <a:endParaRPr lang="en-US" sz="1600" b="0" kern="100" dirty="0">
                        <a:solidFill>
                          <a:schemeClr val="tx1"/>
                        </a:solidFill>
                        <a:effectLst/>
                        <a:ea typeface="Aptos" panose="020B0004020202020204" pitchFamily="34" charset="0"/>
                        <a:cs typeface="Arial" panose="020B0604020202020204" pitchFamily="34" charset="0"/>
                      </a:endParaRPr>
                    </a:p>
                    <a:p>
                      <a:pPr marL="144000" lvl="0" indent="-144000" algn="just">
                        <a:spcAft>
                          <a:spcPts val="600"/>
                        </a:spcAft>
                        <a:buFont typeface="Arial" panose="020B0604020202020204" pitchFamily="34" charset="0"/>
                        <a:buChar char="•"/>
                        <a:tabLst>
                          <a:tab pos="457200" algn="l"/>
                        </a:tabLst>
                      </a:pPr>
                      <a:r>
                        <a:rPr lang="en-GB" sz="1600" b="1" kern="100" dirty="0">
                          <a:solidFill>
                            <a:schemeClr val="tx1"/>
                          </a:solidFill>
                          <a:effectLst/>
                          <a:ea typeface="Aptos" panose="020B0004020202020204" pitchFamily="34" charset="0"/>
                          <a:cs typeface="Arial" panose="020B0604020202020204" pitchFamily="34" charset="0"/>
                        </a:rPr>
                        <a:t>CFP-PYR-ITN</a:t>
                      </a:r>
                      <a:r>
                        <a:rPr lang="en-GB" sz="1600" b="0" kern="100" dirty="0">
                          <a:solidFill>
                            <a:schemeClr val="tx1"/>
                          </a:solidFill>
                          <a:effectLst/>
                          <a:ea typeface="Aptos" panose="020B0004020202020204" pitchFamily="34" charset="0"/>
                          <a:cs typeface="Arial" panose="020B0604020202020204" pitchFamily="34" charset="0"/>
                        </a:rPr>
                        <a:t> with </a:t>
                      </a:r>
                      <a:r>
                        <a:rPr lang="en-GB" sz="1600" b="1" kern="100" dirty="0">
                          <a:solidFill>
                            <a:schemeClr val="tx1"/>
                          </a:solidFill>
                          <a:effectLst/>
                          <a:ea typeface="Aptos" panose="020B0004020202020204" pitchFamily="34" charset="0"/>
                          <a:cs typeface="Arial" panose="020B0604020202020204" pitchFamily="34" charset="0"/>
                        </a:rPr>
                        <a:t>25% coverage reduction</a:t>
                      </a:r>
                    </a:p>
                    <a:p>
                      <a:pPr marL="144000" lvl="0" indent="-144000" algn="just">
                        <a:spcAft>
                          <a:spcPts val="600"/>
                        </a:spcAft>
                        <a:buFont typeface="Arial" panose="020B0604020202020204" pitchFamily="34" charset="0"/>
                        <a:buChar char="•"/>
                        <a:tabLst>
                          <a:tab pos="457200" algn="l"/>
                        </a:tabLst>
                      </a:pPr>
                      <a:r>
                        <a:rPr lang="en-GB" sz="1600" b="1" kern="100" dirty="0">
                          <a:solidFill>
                            <a:schemeClr val="tx1"/>
                          </a:solidFill>
                          <a:effectLst/>
                          <a:ea typeface="Aptos" panose="020B0004020202020204" pitchFamily="34" charset="0"/>
                          <a:cs typeface="Arial" panose="020B0604020202020204" pitchFamily="34" charset="0"/>
                        </a:rPr>
                        <a:t>CFP-PYR-ITN</a:t>
                      </a:r>
                      <a:r>
                        <a:rPr lang="en-GB" sz="1600" b="0" kern="100" dirty="0">
                          <a:solidFill>
                            <a:schemeClr val="tx1"/>
                          </a:solidFill>
                          <a:effectLst/>
                          <a:ea typeface="Aptos" panose="020B0004020202020204" pitchFamily="34" charset="0"/>
                          <a:cs typeface="Arial" panose="020B0604020202020204" pitchFamily="34" charset="0"/>
                        </a:rPr>
                        <a:t> with </a:t>
                      </a:r>
                      <a:r>
                        <a:rPr lang="en-GB" sz="1600" b="1" kern="100" dirty="0">
                          <a:solidFill>
                            <a:schemeClr val="tx1"/>
                          </a:solidFill>
                          <a:effectLst/>
                          <a:ea typeface="Aptos" panose="020B0004020202020204" pitchFamily="34" charset="0"/>
                          <a:cs typeface="Arial" panose="020B0604020202020204" pitchFamily="34" charset="0"/>
                        </a:rPr>
                        <a:t>50% coverage reduction</a:t>
                      </a:r>
                    </a:p>
                    <a:p>
                      <a:pPr marL="144000" lvl="0" indent="-144000" algn="just">
                        <a:spcAft>
                          <a:spcPts val="600"/>
                        </a:spcAft>
                        <a:buFont typeface="Arial" panose="020B0604020202020204" pitchFamily="34" charset="0"/>
                        <a:buChar char="•"/>
                        <a:tabLst>
                          <a:tab pos="457200" algn="l"/>
                        </a:tabLst>
                      </a:pPr>
                      <a:r>
                        <a:rPr lang="en-GB" sz="1600" b="1" kern="100" dirty="0">
                          <a:solidFill>
                            <a:schemeClr val="tx1"/>
                          </a:solidFill>
                          <a:effectLst/>
                          <a:ea typeface="Aptos" panose="020B0004020202020204" pitchFamily="34" charset="0"/>
                          <a:cs typeface="Arial" panose="020B0604020202020204" pitchFamily="34" charset="0"/>
                        </a:rPr>
                        <a:t>CFP-PYR-ITN</a:t>
                      </a:r>
                      <a:r>
                        <a:rPr lang="en-GB" sz="1600" b="0" kern="100" dirty="0">
                          <a:solidFill>
                            <a:schemeClr val="tx1"/>
                          </a:solidFill>
                          <a:effectLst/>
                          <a:ea typeface="Aptos" panose="020B0004020202020204" pitchFamily="34" charset="0"/>
                          <a:cs typeface="Arial" panose="020B0604020202020204" pitchFamily="34" charset="0"/>
                        </a:rPr>
                        <a:t> every </a:t>
                      </a:r>
                      <a:r>
                        <a:rPr lang="en-GB" sz="1600" b="1" kern="100" dirty="0">
                          <a:solidFill>
                            <a:schemeClr val="tx1"/>
                          </a:solidFill>
                          <a:effectLst/>
                          <a:ea typeface="Aptos" panose="020B0004020202020204" pitchFamily="34" charset="0"/>
                          <a:cs typeface="Arial" panose="020B0604020202020204" pitchFamily="34" charset="0"/>
                        </a:rPr>
                        <a:t>4 years</a:t>
                      </a:r>
                    </a:p>
                    <a:p>
                      <a:pPr marL="144000" lvl="0" indent="-144000" algn="just">
                        <a:spcAft>
                          <a:spcPts val="600"/>
                        </a:spcAft>
                        <a:buFont typeface="Arial" panose="020B0604020202020204" pitchFamily="34" charset="0"/>
                        <a:buChar char="•"/>
                        <a:tabLst>
                          <a:tab pos="457200" algn="l"/>
                        </a:tabLst>
                      </a:pPr>
                      <a:r>
                        <a:rPr lang="en-GB" sz="1600" b="1" kern="100" dirty="0">
                          <a:solidFill>
                            <a:schemeClr val="tx1"/>
                          </a:solidFill>
                          <a:effectLst/>
                          <a:ea typeface="Aptos" panose="020B0004020202020204" pitchFamily="34" charset="0"/>
                          <a:cs typeface="Arial" panose="020B0604020202020204" pitchFamily="34" charset="0"/>
                        </a:rPr>
                        <a:t>CFP-PYR-ITN</a:t>
                      </a:r>
                      <a:r>
                        <a:rPr lang="en-GB" sz="1600" b="0" kern="100" dirty="0">
                          <a:solidFill>
                            <a:schemeClr val="tx1"/>
                          </a:solidFill>
                          <a:effectLst/>
                          <a:ea typeface="Aptos" panose="020B0004020202020204" pitchFamily="34" charset="0"/>
                          <a:cs typeface="Arial" panose="020B0604020202020204" pitchFamily="34" charset="0"/>
                        </a:rPr>
                        <a:t> every </a:t>
                      </a:r>
                      <a:r>
                        <a:rPr lang="en-GB" sz="1600" b="1" kern="100" dirty="0">
                          <a:solidFill>
                            <a:schemeClr val="tx1"/>
                          </a:solidFill>
                          <a:effectLst/>
                          <a:ea typeface="Aptos" panose="020B0004020202020204" pitchFamily="34" charset="0"/>
                          <a:cs typeface="Arial" panose="020B0604020202020204" pitchFamily="34" charset="0"/>
                        </a:rPr>
                        <a:t>6 years</a:t>
                      </a:r>
                      <a:endParaRPr lang="en-US" sz="1600" b="1" kern="100" dirty="0">
                        <a:solidFill>
                          <a:schemeClr val="tx1"/>
                        </a:solidFill>
                        <a:effectLst/>
                        <a:ea typeface="Aptos" panose="020B0004020202020204" pitchFamily="34" charset="0"/>
                        <a:cs typeface="Arial" panose="020B0604020202020204" pitchFamily="34" charset="0"/>
                      </a:endParaRPr>
                    </a:p>
                  </a:txBody>
                  <a:tcPr marL="68580" marR="68580" marT="0" marB="0" anchor="ctr">
                    <a:solidFill>
                      <a:schemeClr val="accent5">
                        <a:lumMod val="20000"/>
                        <a:lumOff val="80000"/>
                      </a:schemeClr>
                    </a:solidFill>
                  </a:tcPr>
                </a:tc>
                <a:extLst>
                  <a:ext uri="{0D108BD9-81ED-4DB2-BD59-A6C34878D82A}">
                    <a16:rowId xmlns:a16="http://schemas.microsoft.com/office/drawing/2014/main" val="576808931"/>
                  </a:ext>
                </a:extLst>
              </a:tr>
            </a:tbl>
          </a:graphicData>
        </a:graphic>
      </p:graphicFrame>
      <p:sp>
        <p:nvSpPr>
          <p:cNvPr id="14" name="Arrow: Pentagon 13">
            <a:extLst>
              <a:ext uri="{FF2B5EF4-FFF2-40B4-BE49-F238E27FC236}">
                <a16:creationId xmlns:a16="http://schemas.microsoft.com/office/drawing/2014/main" id="{63B9CC1C-5E37-88ED-FC99-C3D22587A968}"/>
              </a:ext>
            </a:extLst>
          </p:cNvPr>
          <p:cNvSpPr/>
          <p:nvPr/>
        </p:nvSpPr>
        <p:spPr>
          <a:xfrm>
            <a:off x="942763" y="1082041"/>
            <a:ext cx="4158155" cy="720000"/>
          </a:xfrm>
          <a:prstGeom prst="homePlate">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b="1" dirty="0"/>
              <a:t>ITN </a:t>
            </a:r>
            <a:r>
              <a:rPr lang="de-CH" b="1" dirty="0" err="1"/>
              <a:t>deployment</a:t>
            </a:r>
            <a:r>
              <a:rPr lang="de-CH" b="1" dirty="0"/>
              <a:t> </a:t>
            </a:r>
            <a:r>
              <a:rPr lang="de-CH" b="1" dirty="0" err="1"/>
              <a:t>strategies</a:t>
            </a:r>
            <a:endParaRPr lang="en-US" b="1" dirty="0"/>
          </a:p>
        </p:txBody>
      </p:sp>
      <p:sp>
        <p:nvSpPr>
          <p:cNvPr id="15" name="Rectangle 14">
            <a:extLst>
              <a:ext uri="{FF2B5EF4-FFF2-40B4-BE49-F238E27FC236}">
                <a16:creationId xmlns:a16="http://schemas.microsoft.com/office/drawing/2014/main" id="{A21F7C06-A4FB-1124-F0F1-96E346517AB7}"/>
              </a:ext>
            </a:extLst>
          </p:cNvPr>
          <p:cNvSpPr/>
          <p:nvPr/>
        </p:nvSpPr>
        <p:spPr>
          <a:xfrm>
            <a:off x="7498369" y="1914820"/>
            <a:ext cx="2226399" cy="404199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000" indent="-144000">
              <a:buFont typeface="Arial" panose="020B0604020202020204" pitchFamily="34" charset="0"/>
              <a:buChar char="•"/>
            </a:pPr>
            <a:r>
              <a:rPr lang="en-US" sz="1600" b="1" dirty="0">
                <a:solidFill>
                  <a:schemeClr val="tx1"/>
                </a:solidFill>
              </a:rPr>
              <a:t>Human blood index:</a:t>
            </a:r>
            <a:r>
              <a:rPr lang="en-US" sz="1600" dirty="0">
                <a:solidFill>
                  <a:schemeClr val="tx1"/>
                </a:solidFill>
              </a:rPr>
              <a:t> 50% or 90% </a:t>
            </a:r>
          </a:p>
          <a:p>
            <a:pPr marL="144000" indent="-144000">
              <a:buFont typeface="Arial" panose="020B0604020202020204" pitchFamily="34" charset="0"/>
              <a:buChar char="•"/>
            </a:pPr>
            <a:endParaRPr lang="en-US" sz="1600" b="1" dirty="0">
              <a:solidFill>
                <a:schemeClr val="tx1"/>
              </a:solidFill>
            </a:endParaRPr>
          </a:p>
          <a:p>
            <a:pPr marL="144000" indent="-144000">
              <a:buFont typeface="Arial" panose="020B0604020202020204" pitchFamily="34" charset="0"/>
              <a:buChar char="•"/>
            </a:pPr>
            <a:r>
              <a:rPr lang="en-US" sz="1600" b="1" dirty="0">
                <a:solidFill>
                  <a:schemeClr val="tx1"/>
                </a:solidFill>
              </a:rPr>
              <a:t>Entomological inoculation rate: </a:t>
            </a:r>
            <a:r>
              <a:rPr lang="en-US" sz="1600" dirty="0">
                <a:solidFill>
                  <a:schemeClr val="tx1"/>
                </a:solidFill>
              </a:rPr>
              <a:t>5, 10, or 100 infective bites/person/year </a:t>
            </a:r>
          </a:p>
          <a:p>
            <a:pPr marL="144000" indent="-144000">
              <a:buFont typeface="Arial" panose="020B0604020202020204" pitchFamily="34" charset="0"/>
              <a:buChar char="•"/>
            </a:pPr>
            <a:endParaRPr lang="en-US" sz="1600" b="1" dirty="0">
              <a:solidFill>
                <a:schemeClr val="tx1"/>
              </a:solidFill>
            </a:endParaRPr>
          </a:p>
          <a:p>
            <a:pPr marL="144000" indent="-144000">
              <a:buFont typeface="Arial" panose="020B0604020202020204" pitchFamily="34" charset="0"/>
              <a:buChar char="•"/>
            </a:pPr>
            <a:r>
              <a:rPr lang="en-US" sz="1600" b="1" dirty="0">
                <a:solidFill>
                  <a:schemeClr val="tx1"/>
                </a:solidFill>
              </a:rPr>
              <a:t>Transmission seasonality:</a:t>
            </a:r>
            <a:r>
              <a:rPr lang="en-US" sz="1600" dirty="0">
                <a:solidFill>
                  <a:schemeClr val="tx1"/>
                </a:solidFill>
              </a:rPr>
              <a:t> perennial or seasonal</a:t>
            </a:r>
          </a:p>
          <a:p>
            <a:pPr marL="144000" indent="-144000">
              <a:buFont typeface="Arial" panose="020B0604020202020204" pitchFamily="34" charset="0"/>
              <a:buChar char="•"/>
            </a:pPr>
            <a:endParaRPr lang="en-US" sz="1600" b="1" dirty="0">
              <a:solidFill>
                <a:schemeClr val="tx1"/>
              </a:solidFill>
            </a:endParaRPr>
          </a:p>
          <a:p>
            <a:pPr marL="144000" indent="-144000">
              <a:buFont typeface="Arial" panose="020B0604020202020204" pitchFamily="34" charset="0"/>
              <a:buChar char="•"/>
            </a:pPr>
            <a:r>
              <a:rPr lang="en-US" sz="1600" b="1" dirty="0">
                <a:solidFill>
                  <a:schemeClr val="tx1"/>
                </a:solidFill>
              </a:rPr>
              <a:t>Access to first-line treatment: </a:t>
            </a:r>
            <a:r>
              <a:rPr lang="en-US" sz="1600" dirty="0">
                <a:solidFill>
                  <a:schemeClr val="tx1"/>
                </a:solidFill>
              </a:rPr>
              <a:t>10 or 40%</a:t>
            </a:r>
          </a:p>
        </p:txBody>
      </p:sp>
      <p:sp>
        <p:nvSpPr>
          <p:cNvPr id="16" name="Arrow: Chevron 15">
            <a:extLst>
              <a:ext uri="{FF2B5EF4-FFF2-40B4-BE49-F238E27FC236}">
                <a16:creationId xmlns:a16="http://schemas.microsoft.com/office/drawing/2014/main" id="{51500832-67DB-7472-D209-983F8092EA45}"/>
              </a:ext>
            </a:extLst>
          </p:cNvPr>
          <p:cNvSpPr/>
          <p:nvPr/>
        </p:nvSpPr>
        <p:spPr>
          <a:xfrm>
            <a:off x="4907530" y="1075706"/>
            <a:ext cx="2784225" cy="720000"/>
          </a:xfrm>
          <a:prstGeom prst="chevron">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b="1" dirty="0"/>
              <a:t>ITN </a:t>
            </a:r>
            <a:r>
              <a:rPr lang="de-CH" b="1" dirty="0" err="1"/>
              <a:t>parameterisation</a:t>
            </a:r>
            <a:endParaRPr lang="en-US" b="1" dirty="0"/>
          </a:p>
        </p:txBody>
      </p:sp>
      <p:sp>
        <p:nvSpPr>
          <p:cNvPr id="17" name="Arrow: Chevron 16">
            <a:extLst>
              <a:ext uri="{FF2B5EF4-FFF2-40B4-BE49-F238E27FC236}">
                <a16:creationId xmlns:a16="http://schemas.microsoft.com/office/drawing/2014/main" id="{08A8B5CD-4BDF-0E25-C649-DFA840A68C85}"/>
              </a:ext>
            </a:extLst>
          </p:cNvPr>
          <p:cNvSpPr/>
          <p:nvPr/>
        </p:nvSpPr>
        <p:spPr>
          <a:xfrm>
            <a:off x="7498371" y="1082041"/>
            <a:ext cx="2425558" cy="720000"/>
          </a:xfrm>
          <a:prstGeom prst="chevron">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b="1" dirty="0"/>
              <a:t>Settings</a:t>
            </a:r>
            <a:endParaRPr lang="en-US" b="1" dirty="0"/>
          </a:p>
        </p:txBody>
      </p:sp>
      <p:sp>
        <p:nvSpPr>
          <p:cNvPr id="18" name="Arrow: Chevron 17">
            <a:extLst>
              <a:ext uri="{FF2B5EF4-FFF2-40B4-BE49-F238E27FC236}">
                <a16:creationId xmlns:a16="http://schemas.microsoft.com/office/drawing/2014/main" id="{299E464C-73BB-F72E-5206-06D515B788FC}"/>
              </a:ext>
            </a:extLst>
          </p:cNvPr>
          <p:cNvSpPr/>
          <p:nvPr/>
        </p:nvSpPr>
        <p:spPr>
          <a:xfrm>
            <a:off x="9724767" y="1088376"/>
            <a:ext cx="2176849" cy="720000"/>
          </a:xfrm>
          <a:prstGeom prst="chevron">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b="1" dirty="0"/>
              <a:t>Outcomes</a:t>
            </a:r>
            <a:endParaRPr lang="en-US" b="1" dirty="0"/>
          </a:p>
        </p:txBody>
      </p:sp>
    </p:spTree>
    <p:extLst>
      <p:ext uri="{BB962C8B-B14F-4D97-AF65-F5344CB8AC3E}">
        <p14:creationId xmlns:p14="http://schemas.microsoft.com/office/powerpoint/2010/main" val="32662224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303</Words>
  <Application>Microsoft Office PowerPoint</Application>
  <PresentationFormat>Widescreen</PresentationFormat>
  <Paragraphs>33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Yu Mincho</vt: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Thiery Masserey</dc:creator>
  <cp:lastModifiedBy>Thiery Masserey</cp:lastModifiedBy>
  <cp:revision>3</cp:revision>
  <dcterms:created xsi:type="dcterms:W3CDTF">2026-07-20T11:03:54Z</dcterms:created>
  <dcterms:modified xsi:type="dcterms:W3CDTF">2026-07-29T13:11:21Z</dcterms:modified>
</cp:coreProperties>
</file>